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70" r:id="rId4"/>
    <p:sldMasterId id="2147483671"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11" Type="http://schemas.openxmlformats.org/officeDocument/2006/relationships/slide" Target="slides/slide5.xml"/><Relationship Id="rId22" Type="http://schemas.openxmlformats.org/officeDocument/2006/relationships/slide" Target="slides/slide16.xml"/><Relationship Id="rId10" Type="http://schemas.openxmlformats.org/officeDocument/2006/relationships/slide" Target="slides/slide4.xml"/><Relationship Id="rId21" Type="http://schemas.openxmlformats.org/officeDocument/2006/relationships/slide" Target="slides/slide15.xml"/><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5" Type="http://schemas.openxmlformats.org/officeDocument/2006/relationships/slideMaster" Target="slideMasters/slideMaster2.xml"/><Relationship Id="rId19" Type="http://schemas.openxmlformats.org/officeDocument/2006/relationships/slide" Target="slides/slide13.xml"/><Relationship Id="rId6" Type="http://schemas.openxmlformats.org/officeDocument/2006/relationships/notesMaster" Target="notesMasters/notesMaster1.xml"/><Relationship Id="rId18" Type="http://schemas.openxmlformats.org/officeDocument/2006/relationships/slide" Target="slides/slide12.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309bd1662c_2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g3309bd1662c_2_7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3309bd1662c_2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g3309bd1662c_2_8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3309bd1662c_2_8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139" name="Google Shape;139;g3309bd1662c_2_8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GB"/>
              <a:t>An excise tax on a product results in a higher price and a lower quantity sold.</a:t>
            </a:r>
            <a:endParaRPr/>
          </a:p>
        </p:txBody>
      </p:sp>
      <p:sp>
        <p:nvSpPr>
          <p:cNvPr id="140" name="Google Shape;140;g3309bd1662c_2_86: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GB" sz="1200" u="none" cap="none" strike="noStrike">
                <a:solidFill>
                  <a:srgbClr val="000000"/>
                </a:solidFill>
                <a:latin typeface="Calibri"/>
                <a:ea typeface="Calibri"/>
                <a:cs typeface="Calibri"/>
                <a:sym typeface="Calibri"/>
              </a:rPr>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309bd1662c_2_9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146" name="Google Shape;146;g3309bd1662c_2_9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GB"/>
              <a:t>When demand is highly inelastic, most of the burden of an excise tax will fall on consumers. In other words, producers will be able to pass on most of the cost of the tax by raising price.</a:t>
            </a:r>
            <a:endParaRPr/>
          </a:p>
        </p:txBody>
      </p:sp>
      <p:sp>
        <p:nvSpPr>
          <p:cNvPr id="147" name="Google Shape;147;g3309bd1662c_2_92: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GB" sz="1200" u="none" cap="none" strike="noStrike">
                <a:solidFill>
                  <a:srgbClr val="000000"/>
                </a:solidFill>
                <a:latin typeface="Calibri"/>
                <a:ea typeface="Calibri"/>
                <a:cs typeface="Calibri"/>
                <a:sym typeface="Calibri"/>
              </a:rPr>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3309bd1662c_2_9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153" name="Google Shape;153;g3309bd1662c_2_9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GB"/>
              <a:t>When demand is highly elastic, most of the burden of an excise tax will fall on producers. Price will rise slightly, but the quantity sold will decline significantly.</a:t>
            </a:r>
            <a:endParaRPr/>
          </a:p>
        </p:txBody>
      </p:sp>
      <p:sp>
        <p:nvSpPr>
          <p:cNvPr id="154" name="Google Shape;154;g3309bd1662c_2_98: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GB" sz="1200" u="none" cap="none" strike="noStrike">
                <a:solidFill>
                  <a:srgbClr val="000000"/>
                </a:solidFill>
                <a:latin typeface="Calibri"/>
                <a:ea typeface="Calibri"/>
                <a:cs typeface="Calibri"/>
                <a:sym typeface="Calibri"/>
              </a:rPr>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3309bd1662c_2_10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160" name="Google Shape;160;g3309bd1662c_2_10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GB"/>
              <a:t>We can represent the revenue from an excise tax as the shaded area in the graph.</a:t>
            </a:r>
            <a:endParaRPr/>
          </a:p>
        </p:txBody>
      </p:sp>
      <p:sp>
        <p:nvSpPr>
          <p:cNvPr id="161" name="Google Shape;161;g3309bd1662c_2_104: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GB" sz="1200" u="none" cap="none" strike="noStrike">
                <a:solidFill>
                  <a:srgbClr val="000000"/>
                </a:solidFill>
                <a:latin typeface="Calibri"/>
                <a:ea typeface="Calibri"/>
                <a:cs typeface="Calibri"/>
                <a:sym typeface="Calibri"/>
              </a:rPr>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3309bd1662c_2_1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g3309bd1662c_2_1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3309bd1662c_2_1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173" name="Google Shape;173;g3309bd1662c_2_11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GB"/>
              <a:t>An excise tax in a market results in a deadweight loss equal to areas H and I.</a:t>
            </a:r>
            <a:endParaRPr/>
          </a:p>
        </p:txBody>
      </p:sp>
      <p:sp>
        <p:nvSpPr>
          <p:cNvPr id="174" name="Google Shape;174;g3309bd1662c_2_115: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GB" sz="1200" u="none" cap="none" strike="noStrike">
                <a:solidFill>
                  <a:srgbClr val="000000"/>
                </a:solidFill>
                <a:latin typeface="Calibri"/>
                <a:ea typeface="Calibri"/>
                <a:cs typeface="Calibri"/>
                <a:sym typeface="Calibri"/>
              </a:rPr>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3309bd1662c_2_1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g3309bd1662c_2_12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3309bd1662c_2_1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g3309bd1662c_2_12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3309bd1662c_2_1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g3309bd1662c_2_13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3309bd1662c_2_1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g3309bd1662c_2_13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g3309bd1662c_2_13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202" name="Google Shape;202;g3309bd1662c_2_13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GB"/>
              <a:t>Total tax receipts in the U.S. as a share of GDP have generally increased since the 1950s, but have declined in recent years.</a:t>
            </a:r>
            <a:endParaRPr/>
          </a:p>
        </p:txBody>
      </p:sp>
      <p:sp>
        <p:nvSpPr>
          <p:cNvPr id="203" name="Google Shape;203;g3309bd1662c_2_139: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GB" sz="1200" u="none" cap="none" strike="noStrike">
                <a:solidFill>
                  <a:srgbClr val="000000"/>
                </a:solidFill>
                <a:latin typeface="Calibri"/>
                <a:ea typeface="Calibri"/>
                <a:cs typeface="Calibri"/>
                <a:sym typeface="Calibri"/>
              </a:rPr>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g3309bd1662c_2_14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210" name="Google Shape;210;g3309bd1662c_2_14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GB"/>
              <a:t>The United States has a relatively low overall rate of taxation compared to other industrialized countries.</a:t>
            </a:r>
            <a:endParaRPr/>
          </a:p>
        </p:txBody>
      </p:sp>
      <p:sp>
        <p:nvSpPr>
          <p:cNvPr id="211" name="Google Shape;211;g3309bd1662c_2_146: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GB" sz="1200" u="none" cap="none" strike="noStrike">
                <a:solidFill>
                  <a:srgbClr val="000000"/>
                </a:solidFill>
                <a:latin typeface="Calibri"/>
                <a:ea typeface="Calibri"/>
                <a:cs typeface="Calibri"/>
                <a:sym typeface="Calibri"/>
              </a:rPr>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g3309bd1662c_2_15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218" name="Google Shape;218;g3309bd1662c_2_15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GB"/>
              <a:t>The graph indicates that lowering the top marginal federal income tax rate does not seem to be correlated with higher economic growth.</a:t>
            </a:r>
            <a:endParaRPr/>
          </a:p>
        </p:txBody>
      </p:sp>
      <p:sp>
        <p:nvSpPr>
          <p:cNvPr id="219" name="Google Shape;219;g3309bd1662c_2_153: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GB" sz="1200" u="none" cap="none" strike="noStrike">
                <a:solidFill>
                  <a:srgbClr val="000000"/>
                </a:solidFill>
                <a:latin typeface="Calibri"/>
                <a:ea typeface="Calibri"/>
                <a:cs typeface="Calibri"/>
                <a:sym typeface="Calibri"/>
              </a:rPr>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3309bd1662c_2_1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g3309bd1662c_2_16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6" name="Shape 56"/>
        <p:cNvGrpSpPr/>
        <p:nvPr/>
      </p:nvGrpSpPr>
      <p:grpSpPr>
        <a:xfrm>
          <a:off x="0" y="0"/>
          <a:ext cx="0" cy="0"/>
          <a:chOff x="0" y="0"/>
          <a:chExt cx="0" cy="0"/>
        </a:xfrm>
      </p:grpSpPr>
      <p:sp>
        <p:nvSpPr>
          <p:cNvPr id="57" name="Google Shape;57;p14"/>
          <p:cNvSpPr txBox="1"/>
          <p:nvPr>
            <p:ph type="ctrTitle"/>
          </p:nvPr>
        </p:nvSpPr>
        <p:spPr>
          <a:xfrm>
            <a:off x="685800" y="1597819"/>
            <a:ext cx="7772400" cy="1102519"/>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58" name="Google Shape;58;p14"/>
          <p:cNvSpPr txBox="1"/>
          <p:nvPr>
            <p:ph idx="1" type="subTitle"/>
          </p:nvPr>
        </p:nvSpPr>
        <p:spPr>
          <a:xfrm>
            <a:off x="1371600" y="2914650"/>
            <a:ext cx="6400800" cy="1314450"/>
          </a:xfrm>
          <a:prstGeom prst="rect">
            <a:avLst/>
          </a:prstGeom>
          <a:noFill/>
          <a:ln>
            <a:noFill/>
          </a:ln>
        </p:spPr>
        <p:txBody>
          <a:bodyPr anchorCtr="0" anchor="t" bIns="45700" lIns="91425" spcFirstLastPara="1" rIns="91425" wrap="square" tIns="45700">
            <a:no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59" name="Google Shape;59;p14"/>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14"/>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1" name="Google Shape;61;p14"/>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62" name="Shape 62"/>
        <p:cNvGrpSpPr/>
        <p:nvPr/>
      </p:nvGrpSpPr>
      <p:grpSpPr>
        <a:xfrm>
          <a:off x="0" y="0"/>
          <a:ext cx="0" cy="0"/>
          <a:chOff x="0" y="0"/>
          <a:chExt cx="0" cy="0"/>
        </a:xfrm>
      </p:grpSpPr>
      <p:sp>
        <p:nvSpPr>
          <p:cNvPr id="63" name="Google Shape;63;p15"/>
          <p:cNvSpPr txBox="1"/>
          <p:nvPr>
            <p:ph type="title"/>
          </p:nvPr>
        </p:nvSpPr>
        <p:spPr>
          <a:xfrm>
            <a:off x="457200" y="205978"/>
            <a:ext cx="8229600" cy="85725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64" name="Google Shape;64;p15"/>
          <p:cNvSpPr txBox="1"/>
          <p:nvPr>
            <p:ph idx="1" type="body"/>
          </p:nvPr>
        </p:nvSpPr>
        <p:spPr>
          <a:xfrm>
            <a:off x="457200" y="1200150"/>
            <a:ext cx="8229600" cy="3394472"/>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65" name="Google Shape;65;p15"/>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15"/>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15"/>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8" name="Shape 68"/>
        <p:cNvGrpSpPr/>
        <p:nvPr/>
      </p:nvGrpSpPr>
      <p:grpSpPr>
        <a:xfrm>
          <a:off x="0" y="0"/>
          <a:ext cx="0" cy="0"/>
          <a:chOff x="0" y="0"/>
          <a:chExt cx="0" cy="0"/>
        </a:xfrm>
      </p:grpSpPr>
      <p:sp>
        <p:nvSpPr>
          <p:cNvPr id="69" name="Google Shape;69;p16"/>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16"/>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16"/>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2" name="Shape 72"/>
        <p:cNvGrpSpPr/>
        <p:nvPr/>
      </p:nvGrpSpPr>
      <p:grpSpPr>
        <a:xfrm>
          <a:off x="0" y="0"/>
          <a:ext cx="0" cy="0"/>
          <a:chOff x="0" y="0"/>
          <a:chExt cx="0" cy="0"/>
        </a:xfrm>
      </p:grpSpPr>
      <p:sp>
        <p:nvSpPr>
          <p:cNvPr id="73" name="Google Shape;73;p17"/>
          <p:cNvSpPr txBox="1"/>
          <p:nvPr>
            <p:ph type="title"/>
          </p:nvPr>
        </p:nvSpPr>
        <p:spPr>
          <a:xfrm rot="5400000">
            <a:off x="5463778" y="1371600"/>
            <a:ext cx="4388644" cy="20574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74" name="Google Shape;74;p17"/>
          <p:cNvSpPr txBox="1"/>
          <p:nvPr>
            <p:ph idx="1" type="body"/>
          </p:nvPr>
        </p:nvSpPr>
        <p:spPr>
          <a:xfrm rot="5400000">
            <a:off x="1272778" y="-609600"/>
            <a:ext cx="4388644" cy="60198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5" name="Google Shape;75;p17"/>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17"/>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17"/>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8" name="Shape 78"/>
        <p:cNvGrpSpPr/>
        <p:nvPr/>
      </p:nvGrpSpPr>
      <p:grpSpPr>
        <a:xfrm>
          <a:off x="0" y="0"/>
          <a:ext cx="0" cy="0"/>
          <a:chOff x="0" y="0"/>
          <a:chExt cx="0" cy="0"/>
        </a:xfrm>
      </p:grpSpPr>
      <p:sp>
        <p:nvSpPr>
          <p:cNvPr id="79" name="Google Shape;79;p18"/>
          <p:cNvSpPr txBox="1"/>
          <p:nvPr>
            <p:ph type="title"/>
          </p:nvPr>
        </p:nvSpPr>
        <p:spPr>
          <a:xfrm>
            <a:off x="457200" y="205978"/>
            <a:ext cx="8229600" cy="85725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80" name="Google Shape;80;p18"/>
          <p:cNvSpPr txBox="1"/>
          <p:nvPr>
            <p:ph idx="1" type="body"/>
          </p:nvPr>
        </p:nvSpPr>
        <p:spPr>
          <a:xfrm rot="5400000">
            <a:off x="2874764" y="-1217414"/>
            <a:ext cx="3394472" cy="82296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81" name="Google Shape;81;p18"/>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18"/>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18"/>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84" name="Shape 84"/>
        <p:cNvGrpSpPr/>
        <p:nvPr/>
      </p:nvGrpSpPr>
      <p:grpSpPr>
        <a:xfrm>
          <a:off x="0" y="0"/>
          <a:ext cx="0" cy="0"/>
          <a:chOff x="0" y="0"/>
          <a:chExt cx="0" cy="0"/>
        </a:xfrm>
      </p:grpSpPr>
      <p:sp>
        <p:nvSpPr>
          <p:cNvPr id="85" name="Google Shape;85;p19"/>
          <p:cNvSpPr txBox="1"/>
          <p:nvPr>
            <p:ph type="title"/>
          </p:nvPr>
        </p:nvSpPr>
        <p:spPr>
          <a:xfrm>
            <a:off x="1792288" y="3600450"/>
            <a:ext cx="5486400" cy="425054"/>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86" name="Google Shape;86;p19"/>
          <p:cNvSpPr/>
          <p:nvPr>
            <p:ph idx="2" type="pic"/>
          </p:nvPr>
        </p:nvSpPr>
        <p:spPr>
          <a:xfrm>
            <a:off x="1792288" y="459581"/>
            <a:ext cx="5486400" cy="3086100"/>
          </a:xfrm>
          <a:prstGeom prst="rect">
            <a:avLst/>
          </a:prstGeom>
          <a:noFill/>
          <a:ln>
            <a:noFill/>
          </a:ln>
        </p:spPr>
      </p:sp>
      <p:sp>
        <p:nvSpPr>
          <p:cNvPr id="87" name="Google Shape;87;p19"/>
          <p:cNvSpPr txBox="1"/>
          <p:nvPr>
            <p:ph idx="1" type="body"/>
          </p:nvPr>
        </p:nvSpPr>
        <p:spPr>
          <a:xfrm>
            <a:off x="1792288" y="4025503"/>
            <a:ext cx="5486400" cy="603647"/>
          </a:xfrm>
          <a:prstGeom prst="rect">
            <a:avLst/>
          </a:prstGeom>
          <a:noFill/>
          <a:ln>
            <a:noFill/>
          </a:ln>
        </p:spPr>
        <p:txBody>
          <a:bodyPr anchorCtr="0" anchor="t" bIns="45700" lIns="91425" spcFirstLastPara="1" rIns="91425" wrap="square" tIns="45700">
            <a:no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88" name="Google Shape;88;p19"/>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9" name="Google Shape;89;p19"/>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0" name="Google Shape;90;p19"/>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91" name="Shape 91"/>
        <p:cNvGrpSpPr/>
        <p:nvPr/>
      </p:nvGrpSpPr>
      <p:grpSpPr>
        <a:xfrm>
          <a:off x="0" y="0"/>
          <a:ext cx="0" cy="0"/>
          <a:chOff x="0" y="0"/>
          <a:chExt cx="0" cy="0"/>
        </a:xfrm>
      </p:grpSpPr>
      <p:sp>
        <p:nvSpPr>
          <p:cNvPr id="92" name="Google Shape;92;p20"/>
          <p:cNvSpPr txBox="1"/>
          <p:nvPr>
            <p:ph type="title"/>
          </p:nvPr>
        </p:nvSpPr>
        <p:spPr>
          <a:xfrm>
            <a:off x="457200" y="204788"/>
            <a:ext cx="3008313" cy="871538"/>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93" name="Google Shape;93;p20"/>
          <p:cNvSpPr txBox="1"/>
          <p:nvPr>
            <p:ph idx="1" type="body"/>
          </p:nvPr>
        </p:nvSpPr>
        <p:spPr>
          <a:xfrm>
            <a:off x="3575050" y="204788"/>
            <a:ext cx="5111750" cy="4389835"/>
          </a:xfrm>
          <a:prstGeom prst="rect">
            <a:avLst/>
          </a:prstGeom>
          <a:noFill/>
          <a:ln>
            <a:noFill/>
          </a:ln>
        </p:spPr>
        <p:txBody>
          <a:bodyPr anchorCtr="0" anchor="t" bIns="45700" lIns="91425" spcFirstLastPara="1" rIns="91425" wrap="square" tIns="45700">
            <a:no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94" name="Google Shape;94;p20"/>
          <p:cNvSpPr txBox="1"/>
          <p:nvPr>
            <p:ph idx="2" type="body"/>
          </p:nvPr>
        </p:nvSpPr>
        <p:spPr>
          <a:xfrm>
            <a:off x="457200" y="1076325"/>
            <a:ext cx="3008313" cy="3518297"/>
          </a:xfrm>
          <a:prstGeom prst="rect">
            <a:avLst/>
          </a:prstGeom>
          <a:noFill/>
          <a:ln>
            <a:noFill/>
          </a:ln>
        </p:spPr>
        <p:txBody>
          <a:bodyPr anchorCtr="0" anchor="t" bIns="45700" lIns="91425" spcFirstLastPara="1" rIns="91425" wrap="square" tIns="45700">
            <a:no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95" name="Google Shape;95;p20"/>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6" name="Google Shape;96;p20"/>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7" name="Google Shape;97;p20"/>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8" name="Shape 98"/>
        <p:cNvGrpSpPr/>
        <p:nvPr/>
      </p:nvGrpSpPr>
      <p:grpSpPr>
        <a:xfrm>
          <a:off x="0" y="0"/>
          <a:ext cx="0" cy="0"/>
          <a:chOff x="0" y="0"/>
          <a:chExt cx="0" cy="0"/>
        </a:xfrm>
      </p:grpSpPr>
      <p:sp>
        <p:nvSpPr>
          <p:cNvPr id="99" name="Google Shape;99;p21"/>
          <p:cNvSpPr txBox="1"/>
          <p:nvPr>
            <p:ph type="title"/>
          </p:nvPr>
        </p:nvSpPr>
        <p:spPr>
          <a:xfrm>
            <a:off x="457200" y="205978"/>
            <a:ext cx="8229600" cy="85725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00" name="Google Shape;100;p21"/>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1" name="Google Shape;101;p21"/>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2" name="Google Shape;102;p21"/>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03" name="Shape 103"/>
        <p:cNvGrpSpPr/>
        <p:nvPr/>
      </p:nvGrpSpPr>
      <p:grpSpPr>
        <a:xfrm>
          <a:off x="0" y="0"/>
          <a:ext cx="0" cy="0"/>
          <a:chOff x="0" y="0"/>
          <a:chExt cx="0" cy="0"/>
        </a:xfrm>
      </p:grpSpPr>
      <p:sp>
        <p:nvSpPr>
          <p:cNvPr id="104" name="Google Shape;104;p22"/>
          <p:cNvSpPr txBox="1"/>
          <p:nvPr>
            <p:ph type="title"/>
          </p:nvPr>
        </p:nvSpPr>
        <p:spPr>
          <a:xfrm>
            <a:off x="457200" y="205978"/>
            <a:ext cx="8229600" cy="85725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05" name="Google Shape;105;p22"/>
          <p:cNvSpPr txBox="1"/>
          <p:nvPr>
            <p:ph idx="1" type="body"/>
          </p:nvPr>
        </p:nvSpPr>
        <p:spPr>
          <a:xfrm>
            <a:off x="457200" y="1151335"/>
            <a:ext cx="4040188" cy="479822"/>
          </a:xfrm>
          <a:prstGeom prst="rect">
            <a:avLst/>
          </a:prstGeom>
          <a:noFill/>
          <a:ln>
            <a:noFill/>
          </a:ln>
        </p:spPr>
        <p:txBody>
          <a:bodyPr anchorCtr="0" anchor="b" bIns="45700" lIns="91425" spcFirstLastPara="1" rIns="91425" wrap="square" tIns="45700">
            <a:no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106" name="Google Shape;106;p22"/>
          <p:cNvSpPr txBox="1"/>
          <p:nvPr>
            <p:ph idx="2" type="body"/>
          </p:nvPr>
        </p:nvSpPr>
        <p:spPr>
          <a:xfrm>
            <a:off x="457200" y="1631156"/>
            <a:ext cx="4040188" cy="2963466"/>
          </a:xfrm>
          <a:prstGeom prst="rect">
            <a:avLst/>
          </a:prstGeom>
          <a:noFill/>
          <a:ln>
            <a:noFill/>
          </a:ln>
        </p:spPr>
        <p:txBody>
          <a:bodyPr anchorCtr="0" anchor="t" bIns="45700" lIns="91425" spcFirstLastPara="1" rIns="91425" wrap="square" tIns="45700">
            <a:no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107" name="Google Shape;107;p22"/>
          <p:cNvSpPr txBox="1"/>
          <p:nvPr>
            <p:ph idx="3" type="body"/>
          </p:nvPr>
        </p:nvSpPr>
        <p:spPr>
          <a:xfrm>
            <a:off x="4645025" y="1151335"/>
            <a:ext cx="4041775" cy="479822"/>
          </a:xfrm>
          <a:prstGeom prst="rect">
            <a:avLst/>
          </a:prstGeom>
          <a:noFill/>
          <a:ln>
            <a:noFill/>
          </a:ln>
        </p:spPr>
        <p:txBody>
          <a:bodyPr anchorCtr="0" anchor="b" bIns="45700" lIns="91425" spcFirstLastPara="1" rIns="91425" wrap="square" tIns="45700">
            <a:no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108" name="Google Shape;108;p22"/>
          <p:cNvSpPr txBox="1"/>
          <p:nvPr>
            <p:ph idx="4" type="body"/>
          </p:nvPr>
        </p:nvSpPr>
        <p:spPr>
          <a:xfrm>
            <a:off x="4645025" y="1631156"/>
            <a:ext cx="4041775" cy="2963466"/>
          </a:xfrm>
          <a:prstGeom prst="rect">
            <a:avLst/>
          </a:prstGeom>
          <a:noFill/>
          <a:ln>
            <a:noFill/>
          </a:ln>
        </p:spPr>
        <p:txBody>
          <a:bodyPr anchorCtr="0" anchor="t" bIns="45700" lIns="91425" spcFirstLastPara="1" rIns="91425" wrap="square" tIns="45700">
            <a:no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109" name="Google Shape;109;p22"/>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0" name="Google Shape;110;p22"/>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1" name="Google Shape;111;p22"/>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12" name="Shape 112"/>
        <p:cNvGrpSpPr/>
        <p:nvPr/>
      </p:nvGrpSpPr>
      <p:grpSpPr>
        <a:xfrm>
          <a:off x="0" y="0"/>
          <a:ext cx="0" cy="0"/>
          <a:chOff x="0" y="0"/>
          <a:chExt cx="0" cy="0"/>
        </a:xfrm>
      </p:grpSpPr>
      <p:sp>
        <p:nvSpPr>
          <p:cNvPr id="113" name="Google Shape;113;p23"/>
          <p:cNvSpPr txBox="1"/>
          <p:nvPr>
            <p:ph type="title"/>
          </p:nvPr>
        </p:nvSpPr>
        <p:spPr>
          <a:xfrm>
            <a:off x="457200" y="205978"/>
            <a:ext cx="8229600" cy="85725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14" name="Google Shape;114;p23"/>
          <p:cNvSpPr txBox="1"/>
          <p:nvPr>
            <p:ph idx="1" type="body"/>
          </p:nvPr>
        </p:nvSpPr>
        <p:spPr>
          <a:xfrm>
            <a:off x="457200" y="1200150"/>
            <a:ext cx="4038600" cy="3394472"/>
          </a:xfrm>
          <a:prstGeom prst="rect">
            <a:avLst/>
          </a:prstGeom>
          <a:noFill/>
          <a:ln>
            <a:noFill/>
          </a:ln>
        </p:spPr>
        <p:txBody>
          <a:bodyPr anchorCtr="0" anchor="t" bIns="45700" lIns="91425" spcFirstLastPara="1" rIns="91425" wrap="square" tIns="45700">
            <a:no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115" name="Google Shape;115;p23"/>
          <p:cNvSpPr txBox="1"/>
          <p:nvPr>
            <p:ph idx="2" type="body"/>
          </p:nvPr>
        </p:nvSpPr>
        <p:spPr>
          <a:xfrm>
            <a:off x="4648200" y="1200150"/>
            <a:ext cx="4038600" cy="3394472"/>
          </a:xfrm>
          <a:prstGeom prst="rect">
            <a:avLst/>
          </a:prstGeom>
          <a:noFill/>
          <a:ln>
            <a:noFill/>
          </a:ln>
        </p:spPr>
        <p:txBody>
          <a:bodyPr anchorCtr="0" anchor="t" bIns="45700" lIns="91425" spcFirstLastPara="1" rIns="91425" wrap="square" tIns="45700">
            <a:no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116" name="Google Shape;116;p23"/>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7" name="Google Shape;117;p23"/>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8" name="Google Shape;118;p23"/>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19" name="Shape 119"/>
        <p:cNvGrpSpPr/>
        <p:nvPr/>
      </p:nvGrpSpPr>
      <p:grpSpPr>
        <a:xfrm>
          <a:off x="0" y="0"/>
          <a:ext cx="0" cy="0"/>
          <a:chOff x="0" y="0"/>
          <a:chExt cx="0" cy="0"/>
        </a:xfrm>
      </p:grpSpPr>
      <p:sp>
        <p:nvSpPr>
          <p:cNvPr id="120" name="Google Shape;120;p24"/>
          <p:cNvSpPr txBox="1"/>
          <p:nvPr>
            <p:ph type="title"/>
          </p:nvPr>
        </p:nvSpPr>
        <p:spPr>
          <a:xfrm>
            <a:off x="722313" y="3305175"/>
            <a:ext cx="7772400" cy="1021556"/>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b="1" sz="4000"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21" name="Google Shape;121;p24"/>
          <p:cNvSpPr txBox="1"/>
          <p:nvPr>
            <p:ph idx="1" type="body"/>
          </p:nvPr>
        </p:nvSpPr>
        <p:spPr>
          <a:xfrm>
            <a:off x="722313" y="2180035"/>
            <a:ext cx="7772400" cy="1125140"/>
          </a:xfrm>
          <a:prstGeom prst="rect">
            <a:avLst/>
          </a:prstGeom>
          <a:noFill/>
          <a:ln>
            <a:noFill/>
          </a:ln>
        </p:spPr>
        <p:txBody>
          <a:bodyPr anchorCtr="0" anchor="b" bIns="45700" lIns="91425" spcFirstLastPara="1" rIns="91425" wrap="square" tIns="45700">
            <a:no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122" name="Google Shape;122;p24"/>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3" name="Google Shape;123;p24"/>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4" name="Google Shape;124;p24"/>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2.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457200" y="205978"/>
            <a:ext cx="8229600" cy="85725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1pPr>
            <a:lvl2pPr lvl="1"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2pPr>
            <a:lvl3pPr lvl="2"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3pPr>
            <a:lvl4pPr lvl="3"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4pPr>
            <a:lvl5pPr lvl="4"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5pPr>
            <a:lvl6pPr lvl="5"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6pPr>
            <a:lvl7pPr lvl="6"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7pPr>
            <a:lvl8pPr lvl="7"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8pPr>
            <a:lvl9pPr lvl="8"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9pPr>
          </a:lstStyle>
          <a:p/>
        </p:txBody>
      </p:sp>
      <p:sp>
        <p:nvSpPr>
          <p:cNvPr id="52" name="Google Shape;52;p13"/>
          <p:cNvSpPr txBox="1"/>
          <p:nvPr>
            <p:ph idx="1" type="body"/>
          </p:nvPr>
        </p:nvSpPr>
        <p:spPr>
          <a:xfrm>
            <a:off x="457200" y="1200150"/>
            <a:ext cx="8229600" cy="3394472"/>
          </a:xfrm>
          <a:prstGeom prst="rect">
            <a:avLst/>
          </a:prstGeom>
          <a:noFill/>
          <a:ln>
            <a:noFill/>
          </a:ln>
        </p:spPr>
        <p:txBody>
          <a:bodyPr anchorCtr="0" anchor="t" bIns="45700" lIns="91425" spcFirstLastPara="1" rIns="91425" wrap="square" tIns="45700">
            <a:no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53" name="Google Shape;53;p13"/>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1200" u="none" cap="none" strike="noStrike">
                <a:solidFill>
                  <a:srgbClr val="898989"/>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4" name="Google Shape;54;p13"/>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5" name="Google Shape;55;p13"/>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1pPr>
            <a:lvl2pPr indent="0" lvl="1"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2pPr>
            <a:lvl3pPr indent="0" lvl="2"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3pPr>
            <a:lvl4pPr indent="0" lvl="3"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4pPr>
            <a:lvl5pPr indent="0" lvl="4"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5pPr>
            <a:lvl6pPr indent="0" lvl="5"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6pPr>
            <a:lvl7pPr indent="0" lvl="6"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7pPr>
            <a:lvl8pPr indent="0" lvl="7"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8pPr>
            <a:lvl9pPr indent="0" lvl="8"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8.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xml"/><Relationship Id="rId3"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xml"/><Relationship Id="rId3" Type="http://schemas.openxmlformats.org/officeDocument/2006/relationships/image" Target="../media/image1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xml"/><Relationship Id="rId3" Type="http://schemas.openxmlformats.org/officeDocument/2006/relationships/image" Target="../media/image1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xml"/><Relationship Id="rId3" Type="http://schemas.openxmlformats.org/officeDocument/2006/relationships/image" Target="../media/image1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xml"/><Relationship Id="rId3"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3.xml"/><Relationship Id="rId3" Type="http://schemas.openxmlformats.org/officeDocument/2006/relationships/image" Target="../media/image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4.xml"/><Relationship Id="rId3" Type="http://schemas.openxmlformats.org/officeDocument/2006/relationships/image" Target="../media/image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5.xml"/><Relationship Id="rId3" Type="http://schemas.openxmlformats.org/officeDocument/2006/relationships/image" Target="../media/image1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6.xml"/><Relationship Id="rId3"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9AB5E4"/>
            </a:gs>
            <a:gs pos="50000">
              <a:srgbClr val="C2D1ED"/>
            </a:gs>
            <a:gs pos="100000">
              <a:srgbClr val="E1E8F5"/>
            </a:gs>
          </a:gsLst>
          <a:lin ang="5400000" scaled="0"/>
        </a:gradFill>
      </p:bgPr>
    </p:bg>
    <p:spTree>
      <p:nvGrpSpPr>
        <p:cNvPr id="128" name="Shape 128"/>
        <p:cNvGrpSpPr/>
        <p:nvPr/>
      </p:nvGrpSpPr>
      <p:grpSpPr>
        <a:xfrm>
          <a:off x="0" y="0"/>
          <a:ext cx="0" cy="0"/>
          <a:chOff x="0" y="0"/>
          <a:chExt cx="0" cy="0"/>
        </a:xfrm>
      </p:grpSpPr>
      <p:sp>
        <p:nvSpPr>
          <p:cNvPr id="129" name="Google Shape;129;p25"/>
          <p:cNvSpPr txBox="1"/>
          <p:nvPr/>
        </p:nvSpPr>
        <p:spPr>
          <a:xfrm>
            <a:off x="5562600" y="228600"/>
            <a:ext cx="3352800" cy="117752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4800"/>
              <a:buFont typeface="Arial"/>
              <a:buNone/>
            </a:pPr>
            <a:r>
              <a:rPr b="0" i="0" lang="en-GB" sz="4800" u="none" cap="none" strike="noStrike">
                <a:solidFill>
                  <a:schemeClr val="dk1"/>
                </a:solidFill>
                <a:latin typeface="Arial"/>
                <a:ea typeface="Arial"/>
                <a:cs typeface="Arial"/>
                <a:sym typeface="Arial"/>
              </a:rPr>
              <a:t>Chapter Eleven:</a:t>
            </a:r>
            <a:endParaRPr/>
          </a:p>
        </p:txBody>
      </p:sp>
      <p:sp>
        <p:nvSpPr>
          <p:cNvPr id="130" name="Google Shape;130;p25"/>
          <p:cNvSpPr txBox="1"/>
          <p:nvPr/>
        </p:nvSpPr>
        <p:spPr>
          <a:xfrm>
            <a:off x="5410200" y="1828800"/>
            <a:ext cx="3886200" cy="87749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3500"/>
              <a:buFont typeface="Arial"/>
              <a:buNone/>
            </a:pPr>
            <a:r>
              <a:rPr b="0" i="0" lang="en-GB" sz="3500" u="none" cap="none" strike="noStrike">
                <a:solidFill>
                  <a:schemeClr val="dk1"/>
                </a:solidFill>
                <a:latin typeface="Arial"/>
                <a:ea typeface="Arial"/>
                <a:cs typeface="Arial"/>
                <a:sym typeface="Arial"/>
              </a:rPr>
              <a:t>Taxes and Tax Policy</a:t>
            </a:r>
            <a:endParaRPr/>
          </a:p>
        </p:txBody>
      </p:sp>
      <p:pic>
        <p:nvPicPr>
          <p:cNvPr descr="Goodwin_Micro_latest.jpg" id="131" name="Google Shape;131;p25"/>
          <p:cNvPicPr preferRelativeResize="0"/>
          <p:nvPr/>
        </p:nvPicPr>
        <p:blipFill rotWithShape="1">
          <a:blip r:embed="rId3">
            <a:alphaModFix/>
          </a:blip>
          <a:srcRect b="0" l="0" r="0" t="0"/>
          <a:stretch/>
        </p:blipFill>
        <p:spPr>
          <a:xfrm>
            <a:off x="0" y="0"/>
            <a:ext cx="4170759" cy="51435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558ED5"/>
        </a:solidFill>
      </p:bgPr>
    </p:bg>
    <p:spTree>
      <p:nvGrpSpPr>
        <p:cNvPr id="135" name="Shape 135"/>
        <p:cNvGrpSpPr/>
        <p:nvPr/>
      </p:nvGrpSpPr>
      <p:grpSpPr>
        <a:xfrm>
          <a:off x="0" y="0"/>
          <a:ext cx="0" cy="0"/>
          <a:chOff x="0" y="0"/>
          <a:chExt cx="0" cy="0"/>
        </a:xfrm>
      </p:grpSpPr>
      <p:sp>
        <p:nvSpPr>
          <p:cNvPr id="136" name="Google Shape;136;p26"/>
          <p:cNvSpPr txBox="1"/>
          <p:nvPr/>
        </p:nvSpPr>
        <p:spPr>
          <a:xfrm>
            <a:off x="533400" y="914400"/>
            <a:ext cx="7924800" cy="62269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4800"/>
              <a:buFont typeface="Arial"/>
              <a:buNone/>
            </a:pPr>
            <a:r>
              <a:rPr b="0" i="0" lang="en-GB" sz="4800" u="none" cap="none" strike="noStrike">
                <a:solidFill>
                  <a:schemeClr val="dk1"/>
                </a:solidFill>
                <a:latin typeface="Arial"/>
                <a:ea typeface="Arial"/>
                <a:cs typeface="Arial"/>
                <a:sym typeface="Arial"/>
              </a:rPr>
              <a:t>Economic Theory and Taxes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27"/>
          <p:cNvSpPr txBox="1"/>
          <p:nvPr/>
        </p:nvSpPr>
        <p:spPr>
          <a:xfrm>
            <a:off x="533400" y="171450"/>
            <a:ext cx="8305800" cy="71556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800"/>
              <a:buFont typeface="Arial"/>
              <a:buNone/>
            </a:pPr>
            <a:r>
              <a:rPr b="0" i="0" lang="en-GB" sz="2800" u="none" cap="none" strike="noStrike">
                <a:solidFill>
                  <a:schemeClr val="dk1"/>
                </a:solidFill>
                <a:latin typeface="Arial"/>
                <a:ea typeface="Arial"/>
                <a:cs typeface="Arial"/>
                <a:sym typeface="Arial"/>
              </a:rPr>
              <a:t>Figure 11.1: The Impact of a Tax on the Market for Cups of Coffee</a:t>
            </a:r>
            <a:endParaRPr/>
          </a:p>
        </p:txBody>
      </p:sp>
      <p:pic>
        <p:nvPicPr>
          <p:cNvPr id="143" name="Google Shape;143;p27"/>
          <p:cNvPicPr preferRelativeResize="0"/>
          <p:nvPr/>
        </p:nvPicPr>
        <p:blipFill rotWithShape="1">
          <a:blip r:embed="rId3">
            <a:alphaModFix/>
          </a:blip>
          <a:srcRect b="0" l="0" r="0" t="0"/>
          <a:stretch/>
        </p:blipFill>
        <p:spPr>
          <a:xfrm>
            <a:off x="533400" y="857250"/>
            <a:ext cx="6109097" cy="428625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28"/>
          <p:cNvSpPr txBox="1"/>
          <p:nvPr/>
        </p:nvSpPr>
        <p:spPr>
          <a:xfrm>
            <a:off x="533400" y="171450"/>
            <a:ext cx="8305800" cy="71556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800"/>
              <a:buFont typeface="Arial"/>
              <a:buNone/>
            </a:pPr>
            <a:r>
              <a:rPr b="0" i="0" lang="en-GB" sz="2800" u="none" cap="none" strike="noStrike">
                <a:solidFill>
                  <a:schemeClr val="dk1"/>
                </a:solidFill>
                <a:latin typeface="Arial"/>
                <a:ea typeface="Arial"/>
                <a:cs typeface="Arial"/>
                <a:sym typeface="Arial"/>
              </a:rPr>
              <a:t>Figure 11.2: The Impact of an Excise Tax with an Inelastic Demand Curve</a:t>
            </a:r>
            <a:endParaRPr/>
          </a:p>
        </p:txBody>
      </p:sp>
      <p:pic>
        <p:nvPicPr>
          <p:cNvPr id="150" name="Google Shape;150;p28"/>
          <p:cNvPicPr preferRelativeResize="0"/>
          <p:nvPr/>
        </p:nvPicPr>
        <p:blipFill rotWithShape="1">
          <a:blip r:embed="rId3">
            <a:alphaModFix/>
          </a:blip>
          <a:srcRect b="0" l="0" r="0" t="0"/>
          <a:stretch/>
        </p:blipFill>
        <p:spPr>
          <a:xfrm>
            <a:off x="1214437" y="857250"/>
            <a:ext cx="5032771" cy="42862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29"/>
          <p:cNvSpPr txBox="1"/>
          <p:nvPr/>
        </p:nvSpPr>
        <p:spPr>
          <a:xfrm>
            <a:off x="533400" y="171450"/>
            <a:ext cx="8305800" cy="71556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800"/>
              <a:buFont typeface="Arial"/>
              <a:buNone/>
            </a:pPr>
            <a:r>
              <a:rPr b="0" i="0" lang="en-GB" sz="2800" u="none" cap="none" strike="noStrike">
                <a:solidFill>
                  <a:schemeClr val="dk1"/>
                </a:solidFill>
                <a:latin typeface="Arial"/>
                <a:ea typeface="Arial"/>
                <a:cs typeface="Arial"/>
                <a:sym typeface="Arial"/>
              </a:rPr>
              <a:t>Figure 11.3: The Impact of an Excise Tax with an Elastic Demand Curve</a:t>
            </a:r>
            <a:endParaRPr/>
          </a:p>
        </p:txBody>
      </p:sp>
      <p:pic>
        <p:nvPicPr>
          <p:cNvPr id="157" name="Google Shape;157;p29"/>
          <p:cNvPicPr preferRelativeResize="0"/>
          <p:nvPr/>
        </p:nvPicPr>
        <p:blipFill rotWithShape="1">
          <a:blip r:embed="rId3">
            <a:alphaModFix/>
          </a:blip>
          <a:srcRect b="0" l="0" r="0" t="0"/>
          <a:stretch/>
        </p:blipFill>
        <p:spPr>
          <a:xfrm>
            <a:off x="1143000" y="914400"/>
            <a:ext cx="5282803" cy="42291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30"/>
          <p:cNvSpPr txBox="1"/>
          <p:nvPr/>
        </p:nvSpPr>
        <p:spPr>
          <a:xfrm>
            <a:off x="533400" y="171450"/>
            <a:ext cx="8305800" cy="71556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800"/>
              <a:buFont typeface="Arial"/>
              <a:buNone/>
            </a:pPr>
            <a:r>
              <a:rPr b="0" i="0" lang="en-GB" sz="2800" u="none" cap="none" strike="noStrike">
                <a:solidFill>
                  <a:schemeClr val="dk1"/>
                </a:solidFill>
                <a:latin typeface="Arial"/>
                <a:ea typeface="Arial"/>
                <a:cs typeface="Arial"/>
                <a:sym typeface="Arial"/>
              </a:rPr>
              <a:t>Figure 11.4: Tax Revenues from a Tax on Cups of Coffee</a:t>
            </a:r>
            <a:endParaRPr/>
          </a:p>
        </p:txBody>
      </p:sp>
      <p:pic>
        <p:nvPicPr>
          <p:cNvPr id="164" name="Google Shape;164;p30"/>
          <p:cNvPicPr preferRelativeResize="0"/>
          <p:nvPr/>
        </p:nvPicPr>
        <p:blipFill rotWithShape="1">
          <a:blip r:embed="rId3">
            <a:alphaModFix/>
          </a:blip>
          <a:srcRect b="0" l="0" r="0" t="0"/>
          <a:stretch/>
        </p:blipFill>
        <p:spPr>
          <a:xfrm>
            <a:off x="628650" y="857250"/>
            <a:ext cx="5815013" cy="4279106"/>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31"/>
          <p:cNvSpPr txBox="1"/>
          <p:nvPr/>
        </p:nvSpPr>
        <p:spPr>
          <a:xfrm>
            <a:off x="533400" y="171450"/>
            <a:ext cx="8305800" cy="71556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800"/>
              <a:buFont typeface="Arial"/>
              <a:buNone/>
            </a:pPr>
            <a:r>
              <a:rPr b="0" i="0" lang="en-GB" sz="2800" u="none" cap="none" strike="noStrike">
                <a:solidFill>
                  <a:schemeClr val="dk1"/>
                </a:solidFill>
                <a:latin typeface="Arial"/>
                <a:ea typeface="Arial"/>
                <a:cs typeface="Arial"/>
                <a:sym typeface="Arial"/>
              </a:rPr>
              <a:t>Table 11.1: Summary of Excise Tax Impacts for Products with Elastic and Inelastic Demand Curves</a:t>
            </a:r>
            <a:endParaRPr/>
          </a:p>
        </p:txBody>
      </p:sp>
      <p:pic>
        <p:nvPicPr>
          <p:cNvPr id="170" name="Google Shape;170;p31"/>
          <p:cNvPicPr preferRelativeResize="0"/>
          <p:nvPr/>
        </p:nvPicPr>
        <p:blipFill rotWithShape="1">
          <a:blip r:embed="rId3">
            <a:alphaModFix/>
          </a:blip>
          <a:srcRect b="0" l="0" r="0" t="0"/>
          <a:stretch/>
        </p:blipFill>
        <p:spPr>
          <a:xfrm>
            <a:off x="47625" y="1885950"/>
            <a:ext cx="6822281" cy="1364456"/>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32"/>
          <p:cNvSpPr txBox="1"/>
          <p:nvPr/>
        </p:nvSpPr>
        <p:spPr>
          <a:xfrm>
            <a:off x="533400" y="171450"/>
            <a:ext cx="8305800" cy="39290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800"/>
              <a:buFont typeface="Arial"/>
              <a:buNone/>
            </a:pPr>
            <a:r>
              <a:rPr b="0" i="0" lang="en-GB" sz="2800" u="none" cap="none" strike="noStrike">
                <a:solidFill>
                  <a:schemeClr val="dk1"/>
                </a:solidFill>
                <a:latin typeface="Arial"/>
                <a:ea typeface="Arial"/>
                <a:cs typeface="Arial"/>
                <a:sym typeface="Arial"/>
              </a:rPr>
              <a:t>Figure 11.5: Welfare Analysis of an Excise Tax</a:t>
            </a:r>
            <a:endParaRPr/>
          </a:p>
        </p:txBody>
      </p:sp>
      <p:pic>
        <p:nvPicPr>
          <p:cNvPr id="177" name="Google Shape;177;p32"/>
          <p:cNvPicPr preferRelativeResize="0"/>
          <p:nvPr/>
        </p:nvPicPr>
        <p:blipFill rotWithShape="1">
          <a:blip r:embed="rId3">
            <a:alphaModFix/>
          </a:blip>
          <a:srcRect b="0" l="0" r="0" t="0"/>
          <a:stretch/>
        </p:blipFill>
        <p:spPr>
          <a:xfrm>
            <a:off x="457200" y="685800"/>
            <a:ext cx="6228159" cy="44577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558ED5"/>
        </a:solidFill>
      </p:bgPr>
    </p:bg>
    <p:spTree>
      <p:nvGrpSpPr>
        <p:cNvPr id="181" name="Shape 181"/>
        <p:cNvGrpSpPr/>
        <p:nvPr/>
      </p:nvGrpSpPr>
      <p:grpSpPr>
        <a:xfrm>
          <a:off x="0" y="0"/>
          <a:ext cx="0" cy="0"/>
          <a:chOff x="0" y="0"/>
          <a:chExt cx="0" cy="0"/>
        </a:xfrm>
      </p:grpSpPr>
      <p:sp>
        <p:nvSpPr>
          <p:cNvPr id="182" name="Google Shape;182;p33"/>
          <p:cNvSpPr txBox="1"/>
          <p:nvPr/>
        </p:nvSpPr>
        <p:spPr>
          <a:xfrm>
            <a:off x="533400" y="914400"/>
            <a:ext cx="7924800" cy="117752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4800"/>
              <a:buFont typeface="Arial"/>
              <a:buNone/>
            </a:pPr>
            <a:r>
              <a:rPr b="0" i="0" lang="en-GB" sz="4800" u="none" cap="none" strike="noStrike">
                <a:solidFill>
                  <a:schemeClr val="dk1"/>
                </a:solidFill>
                <a:latin typeface="Arial"/>
                <a:ea typeface="Arial"/>
                <a:cs typeface="Arial"/>
                <a:sym typeface="Arial"/>
              </a:rPr>
              <a:t>The Structure of Taxation in the United States</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34"/>
          <p:cNvSpPr txBox="1"/>
          <p:nvPr/>
        </p:nvSpPr>
        <p:spPr>
          <a:xfrm>
            <a:off x="533400" y="171450"/>
            <a:ext cx="8305800" cy="39290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800"/>
              <a:buFont typeface="Arial"/>
              <a:buNone/>
            </a:pPr>
            <a:r>
              <a:rPr b="0" i="0" lang="en-GB" sz="2800" u="none" cap="none" strike="noStrike">
                <a:solidFill>
                  <a:schemeClr val="dk1"/>
                </a:solidFill>
                <a:latin typeface="Arial"/>
                <a:ea typeface="Arial"/>
                <a:cs typeface="Arial"/>
                <a:sym typeface="Arial"/>
              </a:rPr>
              <a:t>Table 11.2: U.S. Federal Marginal Tax Rates, 2013</a:t>
            </a:r>
            <a:endParaRPr/>
          </a:p>
        </p:txBody>
      </p:sp>
      <p:pic>
        <p:nvPicPr>
          <p:cNvPr id="188" name="Google Shape;188;p34"/>
          <p:cNvPicPr preferRelativeResize="0"/>
          <p:nvPr/>
        </p:nvPicPr>
        <p:blipFill rotWithShape="1">
          <a:blip r:embed="rId3">
            <a:alphaModFix/>
          </a:blip>
          <a:srcRect b="0" l="0" r="0" t="0"/>
          <a:stretch/>
        </p:blipFill>
        <p:spPr>
          <a:xfrm>
            <a:off x="0" y="1657350"/>
            <a:ext cx="6858000" cy="1689496"/>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35"/>
          <p:cNvSpPr txBox="1"/>
          <p:nvPr/>
        </p:nvSpPr>
        <p:spPr>
          <a:xfrm>
            <a:off x="533400" y="171450"/>
            <a:ext cx="8305800" cy="71556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800"/>
              <a:buFont typeface="Arial"/>
              <a:buNone/>
            </a:pPr>
            <a:r>
              <a:rPr b="0" i="0" lang="en-GB" sz="2800" u="none" cap="none" strike="noStrike">
                <a:solidFill>
                  <a:schemeClr val="dk1"/>
                </a:solidFill>
                <a:latin typeface="Arial"/>
                <a:ea typeface="Arial"/>
                <a:cs typeface="Arial"/>
                <a:sym typeface="Arial"/>
              </a:rPr>
              <a:t>Table 11.3: Susan’s Federal Income Tax Calculations</a:t>
            </a:r>
            <a:endParaRPr/>
          </a:p>
        </p:txBody>
      </p:sp>
      <p:pic>
        <p:nvPicPr>
          <p:cNvPr id="194" name="Google Shape;194;p35"/>
          <p:cNvPicPr preferRelativeResize="0"/>
          <p:nvPr/>
        </p:nvPicPr>
        <p:blipFill rotWithShape="1">
          <a:blip r:embed="rId3">
            <a:alphaModFix/>
          </a:blip>
          <a:srcRect b="0" l="0" r="0" t="0"/>
          <a:stretch/>
        </p:blipFill>
        <p:spPr>
          <a:xfrm>
            <a:off x="76200" y="1600200"/>
            <a:ext cx="6743700" cy="188595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558ED5"/>
        </a:solidFill>
      </p:bgPr>
    </p:bg>
    <p:spTree>
      <p:nvGrpSpPr>
        <p:cNvPr id="198" name="Shape 198"/>
        <p:cNvGrpSpPr/>
        <p:nvPr/>
      </p:nvGrpSpPr>
      <p:grpSpPr>
        <a:xfrm>
          <a:off x="0" y="0"/>
          <a:ext cx="0" cy="0"/>
          <a:chOff x="0" y="0"/>
          <a:chExt cx="0" cy="0"/>
        </a:xfrm>
      </p:grpSpPr>
      <p:sp>
        <p:nvSpPr>
          <p:cNvPr id="199" name="Google Shape;199;p36"/>
          <p:cNvSpPr txBox="1"/>
          <p:nvPr/>
        </p:nvSpPr>
        <p:spPr>
          <a:xfrm>
            <a:off x="533400" y="914400"/>
            <a:ext cx="7924800" cy="117752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4800"/>
              <a:buFont typeface="Arial"/>
              <a:buNone/>
            </a:pPr>
            <a:r>
              <a:rPr b="0" i="0" lang="en-GB" sz="4800" u="none" cap="none" strike="noStrike">
                <a:solidFill>
                  <a:schemeClr val="dk1"/>
                </a:solidFill>
                <a:latin typeface="Arial"/>
                <a:ea typeface="Arial"/>
                <a:cs typeface="Arial"/>
                <a:sym typeface="Arial"/>
              </a:rPr>
              <a:t>Tax Analysis and Policy Issues</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37"/>
          <p:cNvSpPr txBox="1"/>
          <p:nvPr/>
        </p:nvSpPr>
        <p:spPr>
          <a:xfrm>
            <a:off x="0" y="4958953"/>
            <a:ext cx="4572000" cy="18454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000"/>
              <a:buFont typeface="Arial"/>
              <a:buNone/>
            </a:pPr>
            <a:r>
              <a:rPr b="0" i="1" lang="en-GB" sz="1000" u="none" cap="none" strike="noStrike">
                <a:solidFill>
                  <a:schemeClr val="dk1"/>
                </a:solidFill>
                <a:latin typeface="Arial"/>
                <a:ea typeface="Arial"/>
                <a:cs typeface="Arial"/>
                <a:sym typeface="Arial"/>
              </a:rPr>
              <a:t>Source: </a:t>
            </a:r>
            <a:r>
              <a:rPr b="0" i="0" lang="en-GB" sz="1000" u="none" cap="none" strike="noStrike">
                <a:solidFill>
                  <a:schemeClr val="dk1"/>
                </a:solidFill>
                <a:latin typeface="Arial"/>
                <a:ea typeface="Arial"/>
                <a:cs typeface="Arial"/>
                <a:sym typeface="Arial"/>
              </a:rPr>
              <a:t>U.S. Bureau of Economic Analysis, online database.</a:t>
            </a:r>
            <a:endParaRPr/>
          </a:p>
        </p:txBody>
      </p:sp>
      <p:sp>
        <p:nvSpPr>
          <p:cNvPr id="206" name="Google Shape;206;p37"/>
          <p:cNvSpPr txBox="1"/>
          <p:nvPr/>
        </p:nvSpPr>
        <p:spPr>
          <a:xfrm>
            <a:off x="457200" y="171450"/>
            <a:ext cx="8305800" cy="71556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800"/>
              <a:buFont typeface="Arial"/>
              <a:buNone/>
            </a:pPr>
            <a:r>
              <a:rPr b="0" i="0" lang="en-GB" sz="2800" u="none" cap="none" strike="noStrike">
                <a:solidFill>
                  <a:schemeClr val="dk1"/>
                </a:solidFill>
                <a:latin typeface="Arial"/>
                <a:ea typeface="Arial"/>
                <a:cs typeface="Arial"/>
                <a:sym typeface="Arial"/>
              </a:rPr>
              <a:t>Figure 11.6: Tax Receipts in the United States, as a Percent of GDP, 1950-2012</a:t>
            </a:r>
            <a:endParaRPr/>
          </a:p>
        </p:txBody>
      </p:sp>
      <p:pic>
        <p:nvPicPr>
          <p:cNvPr id="207" name="Google Shape;207;p37"/>
          <p:cNvPicPr preferRelativeResize="0"/>
          <p:nvPr/>
        </p:nvPicPr>
        <p:blipFill rotWithShape="1">
          <a:blip r:embed="rId3">
            <a:alphaModFix/>
          </a:blip>
          <a:srcRect b="0" l="0" r="0" t="0"/>
          <a:stretch/>
        </p:blipFill>
        <p:spPr>
          <a:xfrm>
            <a:off x="609600" y="971550"/>
            <a:ext cx="5938838" cy="394335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38"/>
          <p:cNvSpPr txBox="1"/>
          <p:nvPr/>
        </p:nvSpPr>
        <p:spPr>
          <a:xfrm>
            <a:off x="457200" y="171450"/>
            <a:ext cx="8305800" cy="71556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800"/>
              <a:buFont typeface="Arial"/>
              <a:buNone/>
            </a:pPr>
            <a:r>
              <a:rPr b="0" i="0" lang="en-GB" sz="2800" u="none" cap="none" strike="noStrike">
                <a:solidFill>
                  <a:schemeClr val="dk1"/>
                </a:solidFill>
                <a:latin typeface="Arial"/>
                <a:ea typeface="Arial"/>
                <a:cs typeface="Arial"/>
                <a:sym typeface="Arial"/>
              </a:rPr>
              <a:t>Figure 11.7: International Comparisons of Overall Tax Receipts, 2011</a:t>
            </a:r>
            <a:endParaRPr/>
          </a:p>
        </p:txBody>
      </p:sp>
      <p:sp>
        <p:nvSpPr>
          <p:cNvPr id="214" name="Google Shape;214;p38"/>
          <p:cNvSpPr txBox="1"/>
          <p:nvPr/>
        </p:nvSpPr>
        <p:spPr>
          <a:xfrm>
            <a:off x="0" y="4958953"/>
            <a:ext cx="6172200" cy="18454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000"/>
              <a:buFont typeface="Arial"/>
              <a:buNone/>
            </a:pPr>
            <a:r>
              <a:rPr b="0" i="1" lang="en-GB" sz="1000" u="none" cap="none" strike="noStrike">
                <a:solidFill>
                  <a:schemeClr val="dk1"/>
                </a:solidFill>
                <a:latin typeface="Arial"/>
                <a:ea typeface="Arial"/>
                <a:cs typeface="Arial"/>
                <a:sym typeface="Arial"/>
              </a:rPr>
              <a:t>Source: </a:t>
            </a:r>
            <a:r>
              <a:rPr b="0" i="0" lang="en-GB" sz="1000" u="none" cap="none" strike="noStrike">
                <a:solidFill>
                  <a:schemeClr val="dk1"/>
                </a:solidFill>
                <a:latin typeface="Arial"/>
                <a:ea typeface="Arial"/>
                <a:cs typeface="Arial"/>
                <a:sym typeface="Arial"/>
              </a:rPr>
              <a:t>Organisation for Economic Co-operation and Development, online tax statistics database.</a:t>
            </a:r>
            <a:endParaRPr/>
          </a:p>
        </p:txBody>
      </p:sp>
      <p:pic>
        <p:nvPicPr>
          <p:cNvPr id="215" name="Google Shape;215;p38"/>
          <p:cNvPicPr preferRelativeResize="0"/>
          <p:nvPr/>
        </p:nvPicPr>
        <p:blipFill rotWithShape="1">
          <a:blip r:embed="rId3">
            <a:alphaModFix/>
          </a:blip>
          <a:srcRect b="0" l="0" r="0" t="0"/>
          <a:stretch/>
        </p:blipFill>
        <p:spPr>
          <a:xfrm>
            <a:off x="742950" y="971550"/>
            <a:ext cx="5672137" cy="3975497"/>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39"/>
          <p:cNvSpPr txBox="1"/>
          <p:nvPr/>
        </p:nvSpPr>
        <p:spPr>
          <a:xfrm>
            <a:off x="457200" y="171450"/>
            <a:ext cx="8305800" cy="94654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800"/>
              <a:buFont typeface="Arial"/>
              <a:buNone/>
            </a:pPr>
            <a:r>
              <a:rPr b="0" i="0" lang="en-GB" sz="2800" u="none" cap="none" strike="noStrike">
                <a:solidFill>
                  <a:schemeClr val="dk1"/>
                </a:solidFill>
                <a:latin typeface="Arial"/>
                <a:ea typeface="Arial"/>
                <a:cs typeface="Arial"/>
                <a:sym typeface="Arial"/>
              </a:rPr>
              <a:t>Figure 11.8: The Top Marginal Federal Tax Rate and Average Economic Growth, 1950-2010 </a:t>
            </a:r>
            <a:endParaRPr/>
          </a:p>
          <a:p>
            <a:pPr indent="0" lvl="0" marL="0" marR="0" rtl="0" algn="ctr">
              <a:lnSpc>
                <a:spcPct val="100000"/>
              </a:lnSpc>
              <a:spcBef>
                <a:spcPts val="0"/>
              </a:spcBef>
              <a:spcAft>
                <a:spcPts val="0"/>
              </a:spcAft>
              <a:buClr>
                <a:schemeClr val="dk1"/>
              </a:buClr>
              <a:buSzPts val="2000"/>
              <a:buFont typeface="Arial"/>
              <a:buNone/>
            </a:pPr>
            <a:r>
              <a:rPr b="0" i="0" lang="en-GB" sz="2000" u="none" cap="none" strike="noStrike">
                <a:solidFill>
                  <a:schemeClr val="dk1"/>
                </a:solidFill>
                <a:latin typeface="Arial"/>
                <a:ea typeface="Arial"/>
                <a:cs typeface="Arial"/>
                <a:sym typeface="Arial"/>
              </a:rPr>
              <a:t>(Average Economic Growth Shown by Decade as a Percentage)</a:t>
            </a:r>
            <a:endParaRPr/>
          </a:p>
        </p:txBody>
      </p:sp>
      <p:sp>
        <p:nvSpPr>
          <p:cNvPr id="222" name="Google Shape;222;p39"/>
          <p:cNvSpPr txBox="1"/>
          <p:nvPr/>
        </p:nvSpPr>
        <p:spPr>
          <a:xfrm>
            <a:off x="0" y="4833938"/>
            <a:ext cx="9144000" cy="30003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000"/>
              <a:buFont typeface="Arial"/>
              <a:buNone/>
            </a:pPr>
            <a:r>
              <a:rPr b="0" i="1" lang="en-GB" sz="1000" u="none" cap="none" strike="noStrike">
                <a:solidFill>
                  <a:schemeClr val="dk1"/>
                </a:solidFill>
                <a:latin typeface="Arial"/>
                <a:ea typeface="Arial"/>
                <a:cs typeface="Arial"/>
                <a:sym typeface="Arial"/>
              </a:rPr>
              <a:t>Source: </a:t>
            </a:r>
            <a:r>
              <a:rPr b="0" i="0" lang="en-GB" sz="1000" u="none" cap="none" strike="noStrike">
                <a:solidFill>
                  <a:schemeClr val="dk1"/>
                </a:solidFill>
                <a:latin typeface="Arial"/>
                <a:ea typeface="Arial"/>
                <a:cs typeface="Arial"/>
                <a:sym typeface="Arial"/>
              </a:rPr>
              <a:t>Sarah Anderson, “Full Testimony to the Senate Budget Committee on Inequality, Mobility, and Opportunity,” Institute for Policy Studies, February 8, 2012.</a:t>
            </a:r>
            <a:endParaRPr/>
          </a:p>
        </p:txBody>
      </p:sp>
      <p:pic>
        <p:nvPicPr>
          <p:cNvPr id="223" name="Google Shape;223;p39"/>
          <p:cNvPicPr preferRelativeResize="0"/>
          <p:nvPr/>
        </p:nvPicPr>
        <p:blipFill rotWithShape="1">
          <a:blip r:embed="rId3">
            <a:alphaModFix/>
          </a:blip>
          <a:srcRect b="0" l="0" r="0" t="0"/>
          <a:stretch/>
        </p:blipFill>
        <p:spPr>
          <a:xfrm>
            <a:off x="838200" y="1181100"/>
            <a:ext cx="5543550" cy="367665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40"/>
          <p:cNvSpPr txBox="1"/>
          <p:nvPr/>
        </p:nvSpPr>
        <p:spPr>
          <a:xfrm>
            <a:off x="457200" y="171450"/>
            <a:ext cx="8305800" cy="71556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800"/>
              <a:buFont typeface="Arial"/>
              <a:buNone/>
            </a:pPr>
            <a:r>
              <a:rPr b="0" i="0" lang="en-GB" sz="2800" u="none" cap="none" strike="noStrike">
                <a:solidFill>
                  <a:schemeClr val="dk1"/>
                </a:solidFill>
                <a:latin typeface="Arial"/>
                <a:ea typeface="Arial"/>
                <a:cs typeface="Arial"/>
                <a:sym typeface="Arial"/>
              </a:rPr>
              <a:t>Table 11.4: The Distribution of Taxes in the United States, 2013</a:t>
            </a:r>
            <a:endParaRPr/>
          </a:p>
        </p:txBody>
      </p:sp>
      <p:sp>
        <p:nvSpPr>
          <p:cNvPr id="229" name="Google Shape;229;p40"/>
          <p:cNvSpPr txBox="1"/>
          <p:nvPr/>
        </p:nvSpPr>
        <p:spPr>
          <a:xfrm>
            <a:off x="0" y="4941094"/>
            <a:ext cx="6858000" cy="18573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000"/>
              <a:buFont typeface="Arial"/>
              <a:buNone/>
            </a:pPr>
            <a:r>
              <a:rPr b="0" i="1" lang="en-GB" sz="1000" u="none" cap="none" strike="noStrike">
                <a:solidFill>
                  <a:schemeClr val="dk1"/>
                </a:solidFill>
                <a:latin typeface="Arial"/>
                <a:ea typeface="Arial"/>
                <a:cs typeface="Arial"/>
                <a:sym typeface="Arial"/>
              </a:rPr>
              <a:t>Source: </a:t>
            </a:r>
            <a:r>
              <a:rPr b="0" i="0" lang="en-GB" sz="1000" u="none" cap="none" strike="noStrike">
                <a:solidFill>
                  <a:schemeClr val="dk1"/>
                </a:solidFill>
                <a:latin typeface="Arial"/>
                <a:ea typeface="Arial"/>
                <a:cs typeface="Arial"/>
                <a:sym typeface="Arial"/>
              </a:rPr>
              <a:t>Citizens for Tax Justice, “New Tax Laws in Effect in 2013 Have Modest Progressive Impact,” April 2, 2013.</a:t>
            </a:r>
            <a:endParaRPr/>
          </a:p>
        </p:txBody>
      </p:sp>
      <p:pic>
        <p:nvPicPr>
          <p:cNvPr id="230" name="Google Shape;230;p40"/>
          <p:cNvPicPr preferRelativeResize="0"/>
          <p:nvPr/>
        </p:nvPicPr>
        <p:blipFill rotWithShape="1">
          <a:blip r:embed="rId3">
            <a:alphaModFix/>
          </a:blip>
          <a:srcRect b="0" l="0" r="0" t="0"/>
          <a:stretch/>
        </p:blipFill>
        <p:spPr>
          <a:xfrm>
            <a:off x="152400" y="1657350"/>
            <a:ext cx="6629400" cy="1871663"/>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